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cbc38e3c-e366-ede0-4186-f099a0bbae10}">
          <p14:sldIdLst>
            <p14:sldId id="256"/>
            <p14:sldId id="257"/>
            <p14:sldId id="258"/>
          </p14:sldIdLst>
        </p14:section>
        <p14:section name="Exploración y limpieza" id="{21b413ee-972c-e77f-019e-ac17a0cced0b}">
          <p14:sldIdLst>
            <p14:sldId id="259"/>
            <p14:sldId id="260"/>
            <p14:sldId id="261"/>
            <p14:sldId id="262"/>
          </p14:sldIdLst>
        </p14:section>
        <p14:section name="Ingeniería de características" id="{a81815db-d155-3067-f6fb-5b8f7927ab68}">
          <p14:sldIdLst>
            <p14:sldId id="263"/>
            <p14:sldId id="264"/>
          </p14:sldIdLst>
        </p14:section>
        <p14:section name="Modelo y evaluación" id="{e98358ed-c9eb-d610-c997-d30bace13d7b}">
          <p14:sldIdLst>
            <p14:sldId id="265"/>
            <p14:sldId id="266"/>
            <p14:sldId id="267"/>
            <p14:sldId id="268"/>
          </p14:sldIdLst>
        </p14:section>
        <p14:section name="Interpretación y recomendaciones" id="{c51f7457-e40e-d8af-d55c-d8526c3257d9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Distribución del abandono (n = 2.400)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72B0"/>
              </a:solidFill>
              <a:effectLst/>
            </c:spPr>
          </c:dPt>
          <c:dPt>
            <c:idx val="1"/>
            <c:bubble3D val="0"/>
            <c:spPr>
              <a:solidFill>
                <a:srgbClr val="DD84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Continúa</c:v>
                </c:pt>
                <c:pt idx="1">
                  <c:v>Abandona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1940</c:v>
                </c:pt>
                <c:pt idx="1">
                  <c:v>460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3D4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Tasa de abandono por etapa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abandono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4º ESO</c:v>
                  </c:pt>
                  <c:pt idx="1">
                    <c:v>FP Básica</c:v>
                  </c:pt>
                  <c:pt idx="2">
                    <c:v>Bachillerato</c:v>
                  </c:pt>
                  <c:pt idx="3">
                    <c:v>CFGM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15.4</c:v>
                </c:pt>
                <c:pt idx="1">
                  <c:v>16.6</c:v>
                </c:pt>
                <c:pt idx="2">
                  <c:v>20.3</c:v>
                </c:pt>
                <c:pt idx="3">
                  <c:v>21.8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% que abandona según asistencia en los últimos 30 días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abandono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≤ 75 %</c:v>
                  </c:pt>
                  <c:pt idx="1">
                    <c:v>75–85 %</c:v>
                  </c:pt>
                  <c:pt idx="2">
                    <c:v>85–90 %</c:v>
                  </c:pt>
                  <c:pt idx="3">
                    <c:v>90–95 %</c:v>
                  </c:pt>
                  <c:pt idx="4">
                    <c:v>95–100 %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70.2</c:v>
                </c:pt>
                <c:pt idx="1">
                  <c:v>34.1</c:v>
                </c:pt>
                <c:pt idx="2">
                  <c:v>13.6</c:v>
                </c:pt>
                <c:pt idx="3">
                  <c:v>9.6</c:v>
                </c:pt>
                <c:pt idx="4">
                  <c:v>2.7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Validación: sin balancear vs. balanceado (C = 0,01)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balancear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</c:v>
                  </c:pt>
                  <c:pt idx="1">
                    <c:v>Precision</c:v>
                  </c:pt>
                  <c:pt idx="2">
                    <c:v>AUC-ROC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0.81</c:v>
                </c:pt>
                <c:pt idx="2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Balanceado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</c:v>
                  </c:pt>
                  <c:pt idx="1">
                    <c:v>Precision</c:v>
                  </c:pt>
                  <c:pt idx="2">
                    <c:v>AUC-ROC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</c:v>
                </c:pt>
                <c:pt idx="1">
                  <c:v>0.53</c:v>
                </c:pt>
                <c:pt idx="2">
                  <c:v>0.92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Métricas en validación según el umbral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D8452"/>
            </a:solidFill>
            <a:ln w="31750" cap="flat">
              <a:solidFill>
                <a:srgbClr val="DD84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D8452"/>
              </a:solidFill>
              <a:ln w="9525" cap="flat">
                <a:solidFill>
                  <a:srgbClr val="DD84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0,20</c:v>
                  </c:pt>
                  <c:pt idx="1">
                    <c:v>0,25</c:v>
                  </c:pt>
                  <c:pt idx="2">
                    <c:v>0,30</c:v>
                  </c:pt>
                  <c:pt idx="3">
                    <c:v>0,35</c:v>
                  </c:pt>
                  <c:pt idx="4">
                    <c:v>0,40</c:v>
                  </c:pt>
                  <c:pt idx="5">
                    <c:v>0,45</c:v>
                  </c:pt>
                  <c:pt idx="6">
                    <c:v>0,50</c:v>
                  </c:pt>
                  <c:pt idx="7">
                    <c:v>0,55</c:v>
                  </c:pt>
                  <c:pt idx="8">
                    <c:v>0,60</c:v>
                  </c:pt>
                  <c:pt idx="9">
                    <c:v>0,65</c:v>
                  </c:pt>
                  <c:pt idx="10">
                    <c:v>0,70</c:v>
                  </c:pt>
                  <c:pt idx="11">
                    <c:v>0,75</c:v>
                  </c:pt>
                  <c:pt idx="12">
                    <c:v>0,80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0.957</c:v>
                </c:pt>
                <c:pt idx="1">
                  <c:v>0.942</c:v>
                </c:pt>
                <c:pt idx="2">
                  <c:v>0.913</c:v>
                </c:pt>
                <c:pt idx="3">
                  <c:v>0.913</c:v>
                </c:pt>
                <c:pt idx="4">
                  <c:v>0.913</c:v>
                </c:pt>
                <c:pt idx="5">
                  <c:v>0.913</c:v>
                </c:pt>
                <c:pt idx="6">
                  <c:v>0.87</c:v>
                </c:pt>
                <c:pt idx="7">
                  <c:v>0.841</c:v>
                </c:pt>
                <c:pt idx="8">
                  <c:v>0.812</c:v>
                </c:pt>
                <c:pt idx="9">
                  <c:v>0.768</c:v>
                </c:pt>
                <c:pt idx="10">
                  <c:v>0.71</c:v>
                </c:pt>
                <c:pt idx="11">
                  <c:v>0.667</c:v>
                </c:pt>
                <c:pt idx="12">
                  <c:v>0.565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C72B0"/>
            </a:solidFill>
            <a:ln w="31750" cap="flat">
              <a:solidFill>
                <a:srgbClr val="4C72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C72B0"/>
              </a:solidFill>
              <a:ln w="9525" cap="flat">
                <a:solidFill>
                  <a:srgbClr val="4C72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0,20</c:v>
                  </c:pt>
                  <c:pt idx="1">
                    <c:v>0,25</c:v>
                  </c:pt>
                  <c:pt idx="2">
                    <c:v>0,30</c:v>
                  </c:pt>
                  <c:pt idx="3">
                    <c:v>0,35</c:v>
                  </c:pt>
                  <c:pt idx="4">
                    <c:v>0,40</c:v>
                  </c:pt>
                  <c:pt idx="5">
                    <c:v>0,45</c:v>
                  </c:pt>
                  <c:pt idx="6">
                    <c:v>0,50</c:v>
                  </c:pt>
                  <c:pt idx="7">
                    <c:v>0,55</c:v>
                  </c:pt>
                  <c:pt idx="8">
                    <c:v>0,60</c:v>
                  </c:pt>
                  <c:pt idx="9">
                    <c:v>0,65</c:v>
                  </c:pt>
                  <c:pt idx="10">
                    <c:v>0,70</c:v>
                  </c:pt>
                  <c:pt idx="11">
                    <c:v>0,75</c:v>
                  </c:pt>
                  <c:pt idx="12">
                    <c:v>0,80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0.317</c:v>
                </c:pt>
                <c:pt idx="1">
                  <c:v>0.367</c:v>
                </c:pt>
                <c:pt idx="2">
                  <c:v>0.38</c:v>
                </c:pt>
                <c:pt idx="3">
                  <c:v>0.414</c:v>
                </c:pt>
                <c:pt idx="4">
                  <c:v>0.45</c:v>
                </c:pt>
                <c:pt idx="5">
                  <c:v>0.512</c:v>
                </c:pt>
                <c:pt idx="6">
                  <c:v>0.531</c:v>
                </c:pt>
                <c:pt idx="7">
                  <c:v>0.558</c:v>
                </c:pt>
                <c:pt idx="8">
                  <c:v>0.583</c:v>
                </c:pt>
                <c:pt idx="9">
                  <c:v>0.646</c:v>
                </c:pt>
                <c:pt idx="10">
                  <c:v>0.721</c:v>
                </c:pt>
                <c:pt idx="11">
                  <c:v>0.78</c:v>
                </c:pt>
                <c:pt idx="12">
                  <c:v>0.812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0,20</c:v>
                  </c:pt>
                  <c:pt idx="1">
                    <c:v>0,25</c:v>
                  </c:pt>
                  <c:pt idx="2">
                    <c:v>0,30</c:v>
                  </c:pt>
                  <c:pt idx="3">
                    <c:v>0,35</c:v>
                  </c:pt>
                  <c:pt idx="4">
                    <c:v>0,40</c:v>
                  </c:pt>
                  <c:pt idx="5">
                    <c:v>0,45</c:v>
                  </c:pt>
                  <c:pt idx="6">
                    <c:v>0,50</c:v>
                  </c:pt>
                  <c:pt idx="7">
                    <c:v>0,55</c:v>
                  </c:pt>
                  <c:pt idx="8">
                    <c:v>0,60</c:v>
                  </c:pt>
                  <c:pt idx="9">
                    <c:v>0,65</c:v>
                  </c:pt>
                  <c:pt idx="10">
                    <c:v>0,70</c:v>
                  </c:pt>
                  <c:pt idx="11">
                    <c:v>0,75</c:v>
                  </c:pt>
                  <c:pt idx="12">
                    <c:v>0,80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0.477</c:v>
                </c:pt>
                <c:pt idx="1">
                  <c:v>0.528</c:v>
                </c:pt>
                <c:pt idx="2">
                  <c:v>0.536</c:v>
                </c:pt>
                <c:pt idx="3">
                  <c:v>0.57</c:v>
                </c:pt>
                <c:pt idx="4">
                  <c:v>0.603</c:v>
                </c:pt>
                <c:pt idx="5">
                  <c:v>0.656</c:v>
                </c:pt>
                <c:pt idx="6">
                  <c:v>0.659</c:v>
                </c:pt>
                <c:pt idx="7">
                  <c:v>0.671</c:v>
                </c:pt>
                <c:pt idx="8">
                  <c:v>0.679</c:v>
                </c:pt>
                <c:pt idx="9">
                  <c:v>0.702</c:v>
                </c:pt>
                <c:pt idx="10">
                  <c:v>0.715</c:v>
                </c:pt>
                <c:pt idx="11">
                  <c:v>0.719</c:v>
                </c:pt>
                <c:pt idx="12">
                  <c:v>0.667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D4F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3D4F66"/>
                    </a:solidFill>
                    <a:latin typeface="Arial"/>
                  </a:rPr>
                  <a:t>Umbral de probabilidad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Coeficientes (variables estandarizadas) · 12 más influyentes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Aumenta el riesgo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Apoyo familiar</c:v>
                  </c:pt>
                  <c:pt idx="1">
                    <c:v>Pertenencia al centro</c:v>
                  </c:pt>
                  <c:pt idx="2">
                    <c:v>Horas de estudio</c:v>
                  </c:pt>
                  <c:pt idx="3">
                    <c:v>Nota media</c:v>
                  </c:pt>
                  <c:pt idx="4">
                    <c:v>Relación con docentes</c:v>
                  </c:pt>
                  <c:pt idx="5">
                    <c:v>Intención de continuar</c:v>
                  </c:pt>
                  <c:pt idx="6">
                    <c:v>Satisfacción con el programa</c:v>
                  </c:pt>
                  <c:pt idx="7">
                    <c:v>Materias suspensas</c:v>
                  </c:pt>
                  <c:pt idx="8">
                    <c:v>Dificultad económica</c:v>
                  </c:pt>
                  <c:pt idx="9">
                    <c:v>Frecuencia de acoso</c:v>
                  </c:pt>
                  <c:pt idx="10">
                    <c:v>Ha repetido curso</c:v>
                  </c:pt>
                  <c:pt idx="11">
                    <c:v>Asistencia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0.256</c:v>
                </c:pt>
                <c:pt idx="8">
                  <c:v>0.262</c:v>
                </c:pt>
                <c:pt idx="9">
                  <c:v>0.281</c:v>
                </c:pt>
                <c:pt idx="10">
                  <c:v>0.284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Reduce el riesgo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Apoyo familiar</c:v>
                  </c:pt>
                  <c:pt idx="1">
                    <c:v>Pertenencia al centro</c:v>
                  </c:pt>
                  <c:pt idx="2">
                    <c:v>Horas de estudio</c:v>
                  </c:pt>
                  <c:pt idx="3">
                    <c:v>Nota media</c:v>
                  </c:pt>
                  <c:pt idx="4">
                    <c:v>Relación con docentes</c:v>
                  </c:pt>
                  <c:pt idx="5">
                    <c:v>Intención de continuar</c:v>
                  </c:pt>
                  <c:pt idx="6">
                    <c:v>Satisfacción con el programa</c:v>
                  </c:pt>
                  <c:pt idx="7">
                    <c:v>Materias suspensas</c:v>
                  </c:pt>
                  <c:pt idx="8">
                    <c:v>Dificultad económica</c:v>
                  </c:pt>
                  <c:pt idx="9">
                    <c:v>Frecuencia de acoso</c:v>
                  </c:pt>
                  <c:pt idx="10">
                    <c:v>Ha repetido curso</c:v>
                  </c:pt>
                  <c:pt idx="11">
                    <c:v>Asistencia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-0.142</c:v>
                </c:pt>
                <c:pt idx="1">
                  <c:v>-0.158</c:v>
                </c:pt>
                <c:pt idx="2">
                  <c:v>-0.166</c:v>
                </c:pt>
                <c:pt idx="3">
                  <c:v>-0.184</c:v>
                </c:pt>
                <c:pt idx="4">
                  <c:v>-0.193</c:v>
                </c:pt>
                <c:pt idx="5">
                  <c:v>-0.197</c:v>
                </c:pt>
                <c:pt idx="6">
                  <c:v>-0.198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-0.303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-0.35"/>
        </c:scaling>
        <c:delete val="0"/>
        <c:axPos val="b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Recall por grupo en prueba (recall global = 0,80)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Centro público</c:v>
                  </c:pt>
                  <c:pt idx="1">
                    <c:v>Centro concertado</c:v>
                  </c:pt>
                  <c:pt idx="2">
                    <c:v>Con NEAE</c:v>
                  </c:pt>
                  <c:pt idx="3">
                    <c:v>Sin NEAE</c:v>
                  </c:pt>
                  <c:pt idx="4">
                    <c:v>Nacidos fuera</c:v>
                  </c:pt>
                  <c:pt idx="5">
                    <c:v>Nacidos en España</c:v>
                  </c:pt>
                  <c:pt idx="6">
                    <c:v>Mujeres</c:v>
                  </c:pt>
                  <c:pt idx="7">
                    <c:v>Hombres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0.78</c:v>
                </c:pt>
                <c:pt idx="2">
                  <c:v>0.89</c:v>
                </c:pt>
                <c:pt idx="3">
                  <c:v>0.78</c:v>
                </c:pt>
                <c:pt idx="4">
                  <c:v>0.93</c:v>
                </c:pt>
                <c:pt idx="5">
                  <c:v>0.76</c:v>
                </c:pt>
                <c:pt idx="6">
                  <c:v>0.86</c:v>
                </c:pt>
                <c:pt idx="7">
                  <c:v>0.72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proyecto para EduFuture: un modelo que estima la probabilidad de que un estudiante abandone sus estudios en los próximos 12 meses. La idea clave es detectar el riesgo a tiempo para ofrecer apoyo preventivo, no para etiquetar a nadie.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es sintético, creado con fines académicos: 2.400 estudiantes y 36 variables. La variable objetivo es abandono_en_12_meses. Casi uno de cada cinco abandona.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cinco fases. Un detalle importante: respetamos la partición que trae el dataset. El modelo aprende con entrenamiento, comparamos versiones con validación y la prueba solo se usa una vez al final, para medir el rendimiento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había nulos ni duplicados, así que la limpieza consistió en validar. Comprobamos rangos (asistencia entre 45 y 100, nota entre 2,5 y 10), que las binarias son 0/1 y que las categorías coinciden con el diccionario. Los outliers se detectaron con la regla IQR y se conservaron: son pocos, plausibles y precisamente pueden ser los estudiantes con más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19,2 % abandona: las clases están desbalanceadas. Esto hace que el accuracy sea engañoso. Por etapas, CFGM y Bachillerato tienen más abandono que 4º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diferencias son muy claras: la mediana de asistencia baja de casi el 95 % al 77 %, la nota de 7 a 5,7 y los suspensos se triplican. Son señales tempranas y medibles por cualquier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Agrupando por tramos de asistencia, el abandono pasa del 2,7 % en quien asiste más del 95 % al 70 % en quien asiste menos del 75 %. Es la variable más correlacionada con el abandono (-0,56) y será también la de más peso en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el rol recomendado del diccionario. Las variables sensibles no entran en el modelo, porque no deben influir en quién recibe apoyo; las usamos después para auditar si el modelo falla más con algún grupo. Contacto con tutoría se excluye porque es una intervención ya iniciada y confundiría la interpretación.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transformaciones. La más interesante: curso_nivel ya contiene la etapa, así que hacer one-hot de las dos crearía multicolinealidad. Todo va dentro de un Pipeline de scikit-learn, de modo que la media y la desviación del escalado se calculan solo con los datos de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regresión logística porque devuelve una probabilidad y es interpretable, algo clave para una ONG que debe justificar a quién ofrece apoyo. Comparamos 8 versiones en validación (con y sin balanceo, cuatro valores de C). Sin balancear, el modelo se deja casi la mitad de los abandonos. Con balanceo, el recall sube a 0,87. Elegimos C = 0,01 por tener el mejor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regresión logística da una probabilidad; el umbral decide a partir de qué valor marcamos riesgo. Bajar el umbral detecta más abandonos pero genera más falsas alarmas. Nuestro criterio: recall de al menos 0,85 en validación, con el umbral más alto que lo cumpla. Resultado: 0,50.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sobre el conjunto de prueba, 360 estudiantes que el modelo no había visto. El recall es nuestra métrica principal: de todos los que abandonan, a cuántos detectamos. En prueba queda en 0,80, algo por debajo del 0,85 de validación: con solo 69 abandonos por conjunto, unos pocos casos mueven mucho la cifra. El AUC es estable en los tres conjuntos, señal de que no hay sobreajuste.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69 abandonos reales en prueba, el modelo detecta 55 y se le escapan 14: eso es el recall, 80 %. De 102 alertas, 55 son abandonos reales: precision del 54 %. El error más caro es el falso negativo, el estudiante que abandona sin que nadie lo vea venir. Una falsa alarma solo supone una conversación de tutoría de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las variables están estandarizadas, los coeficientes son comparables. Un coeficiente positivo aumenta los log-odds de abandono manteniendo el resto constante. La asistencia es el factor con más peso y protege; repetir curso, el acoso, la dificultad económica y los suspensos aumentan el riesgo. La mayoría de estas señales son modificables.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el modelo no usa sexo, origen ni necesidad de apoyo, puede rendir distinto según el grupo. La diferencia más relevante: se escapan más chicos que chicas. Con pocos casos por grupo hay que ser prudentes, pero antes de un uso real convendría investigarlo. Grupos con menos de 5 abandonos, como centros privados, no se muestran.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recomendación responde a un factor del modelo. La asistencia, al ser el factor con más peso y fácil de medir, es la primera alerta. El resto conecta cada señal con un recurso concreto: refuerzo, orientación, ayudas, convivencia. Y el propio modelo debe evaluarse: hay que medir si las intervenciones funcionan.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(arrancar la app unos minutos antes). Pestaña 2: enseñar el gráfico de asistencia, donde el abandono pasa del 3 % al 70 %. Pestaña 4: mover el umbral de 0,50 a 0,35 para enseñar que detectar más abandonos obliga a revisar a más estudiantes, y volver a 0,50. Pestaña 5: el modelo dice a quién ayudar y las recomendaciones dicen cómo.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tres ideas. Uno: el modelo detecta 8 de cada 10 abandonos y ordena muy bien el riesgo. Dos: la asistencia es la señal más potente y además es fácil de medir y de actuar sobre ella. Tres: el modelo es una herramienta de apoyo, con revisión humana y vigilando la equidad. Datos sintéticos con fines académicos.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EduFuture · Predicción del abandono escolar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a tiempo para acompañar mejor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Predicción del riesgo de abandono escolar con regresión logística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EduFuture · Proyecto final de Machine Learning</a:t>
            </a:r>
            <a:endParaRPr lang="en-US" sz="1400" dirty="0"/>
          </a:p>
        </p:txBody>
      </p:sp>
      <p:sp>
        <p:nvSpPr>
          <p:cNvPr id="5" name="Círculo FaGraduationCap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4469" y="2653589"/>
            <a:ext cx="1093622" cy="1093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RETO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EduFuture quiere anticiparse al abandono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El problema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Cuando un estudiante abandona, la ayuda suele llegar tarde. Hace falta identificar el riesgo antes de que ocurra.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Nuestro objetivo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Un modelo de clasificación que estime la probabilidad de abandono de cada estudiante y explique qué señales la provocan.</a:t>
            </a:r>
            <a:endParaRPr lang="en-US" sz="1800" dirty="0"/>
          </a:p>
        </p:txBody>
      </p:sp>
      <p:sp>
        <p:nvSpPr>
          <p:cNvPr id="5" name="Tarjeta"/>
          <p:cNvSpPr/>
          <p:nvPr/>
        </p:nvSpPr>
        <p:spPr>
          <a:xfrm>
            <a:off x="6217920" y="169164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Círculo FaUsers"/>
          <p:cNvSpPr/>
          <p:nvPr/>
        </p:nvSpPr>
        <p:spPr>
          <a:xfrm>
            <a:off x="6446520" y="198424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030" y="2181758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06640" y="18013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2.400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423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estudiantes simulados de 4º ESO, Bachillerato, FP Básica y CFGM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6217920" y="320040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Círculo FaTable"/>
          <p:cNvSpPr/>
          <p:nvPr/>
        </p:nvSpPr>
        <p:spPr>
          <a:xfrm>
            <a:off x="6446520" y="349300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30" y="3690518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3310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3931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variables: rendimiento, asistencia, contexto y vínculo con el centro</a:t>
            </a:r>
            <a:endParaRPr lang="en-US" sz="1400" dirty="0"/>
          </a:p>
        </p:txBody>
      </p:sp>
      <p:sp>
        <p:nvSpPr>
          <p:cNvPr id="15" name="Tarjeta"/>
          <p:cNvSpPr/>
          <p:nvPr/>
        </p:nvSpPr>
        <p:spPr>
          <a:xfrm>
            <a:off x="6217920" y="470916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Círculo FaTriangleExclamation"/>
          <p:cNvSpPr/>
          <p:nvPr/>
        </p:nvSpPr>
        <p:spPr>
          <a:xfrm>
            <a:off x="6446520" y="500176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30" y="5199278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06640" y="48188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19,2 %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7406640" y="5440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abandona en los 12 meses siguientes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METODOLOGÍA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hemos abordado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8288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5" name="Círculo FaMagnifyingGlass"/>
          <p:cNvSpPr/>
          <p:nvPr/>
        </p:nvSpPr>
        <p:spPr>
          <a:xfrm>
            <a:off x="1179576" y="21488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775" y="237103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Exploración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Validar datos, distribuciones y relación con el abandono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2798064" y="18288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0" name="Círculo FaFilter"/>
          <p:cNvSpPr/>
          <p:nvPr/>
        </p:nvSpPr>
        <p:spPr>
          <a:xfrm>
            <a:off x="3429000" y="21488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Fa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237103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5224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Variables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370332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Seleccionar predictores y apartar las variables sensibles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5047488" y="18288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5" name="Círculo FaGears"/>
          <p:cNvSpPr/>
          <p:nvPr/>
        </p:nvSpPr>
        <p:spPr>
          <a:xfrm>
            <a:off x="5678424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Ge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23" y="237103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84648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Modelo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230368" y="370332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Regresión logística ajustada con el conjunto de validación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7296912" y="18288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0" name="Círculo FaChartLine"/>
          <p:cNvSpPr/>
          <p:nvPr/>
        </p:nvSpPr>
        <p:spPr>
          <a:xfrm>
            <a:off x="7927848" y="21488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047" y="237103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Evaluación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370332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Recall, precision, F1, AUC y matriz de confusión en prueba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9546336" y="18288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5" name="Círculo FaLightbulb"/>
          <p:cNvSpPr/>
          <p:nvPr/>
        </p:nvSpPr>
        <p:spPr>
          <a:xfrm>
            <a:off x="10177272" y="21488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4" descr="Fa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471" y="2371039"/>
            <a:ext cx="378562" cy="37856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83496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Interpretación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729216" y="370332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Coeficientes, equidad y recomendaciones de apoyo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Partición estratificada ya incluida: 70 % entrenamiento · 15 % validación · 15 % prueba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EXPLORACIÓN Y LIMPIEZA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limpio: lo hemos validado todo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73736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Círculo FaCircleCheck"/>
          <p:cNvSpPr/>
          <p:nvPr/>
        </p:nvSpPr>
        <p:spPr>
          <a:xfrm>
            <a:off x="822960" y="21945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504" y="2429104"/>
            <a:ext cx="399593" cy="3995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659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valores nulos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hay que imputar ni eliminar filas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6172200" y="173736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Círculo FaClone"/>
          <p:cNvSpPr/>
          <p:nvPr/>
        </p:nvSpPr>
        <p:spPr>
          <a:xfrm>
            <a:off x="6446520" y="21945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FaCl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064" y="242910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19659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duplicados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Ni filas ni identificadores repetidos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Círculo FaRulerHorizontal"/>
          <p:cNvSpPr/>
          <p:nvPr/>
        </p:nvSpPr>
        <p:spPr>
          <a:xfrm>
            <a:off x="822960" y="42062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FaRulerHorizon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444078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3977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dentro de rango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754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Rangos, binarias 0/1 y categorías según el diccionario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6172200" y="374904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Círculo FaTriangleExclamation"/>
          <p:cNvSpPr/>
          <p:nvPr/>
        </p:nvSpPr>
        <p:spPr>
          <a:xfrm>
            <a:off x="6446520" y="4206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TriangleExcla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064" y="4440784"/>
            <a:ext cx="399593" cy="3995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3977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3 %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outliers (IQR)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4754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conservan: son casos reales y de alto riesgo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Además: curso_nivel está anidado en etapa → lo tendremos en cuenta al codificar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EXPLORACIÓN Y LIMPIEZA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cada 5 estudiantes abandona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669280" y="1645920"/>
          <a:ext cx="5943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Mensaje desbalance"/>
          <p:cNvSpPr/>
          <p:nvPr/>
        </p:nvSpPr>
        <p:spPr>
          <a:xfrm>
            <a:off x="5669280" y="4937760"/>
            <a:ext cx="5943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89788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Clases desbalanceadas (81 / 19).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modelo que dijera siempre «continúa» acertaría el 81 %… sin detectar a nadie. Por eso priorizamos el recall.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EXPLORACIÓN Y LIMPIEZA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 abandona falta más y suspende más</a:t>
            </a:r>
            <a:endParaRPr lang="en-US" sz="3400" dirty="0"/>
          </a:p>
        </p:txBody>
      </p:sp>
      <p:pic>
        <p:nvPicPr>
          <p:cNvPr id="4" name="Image 0" descr="Diagramas de caja de asistencia, nota media y materias suspensas según aband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3297851"/>
          </a:xfrm>
          <a:prstGeom prst="rect">
            <a:avLst/>
          </a:prstGeom>
        </p:spPr>
      </p:pic>
      <p:sp>
        <p:nvSpPr>
          <p:cNvPr id="5" name="Tarjeta"/>
          <p:cNvSpPr/>
          <p:nvPr/>
        </p:nvSpPr>
        <p:spPr>
          <a:xfrm>
            <a:off x="548640" y="507492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Asistencia (mediana)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94,7 %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continúa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76,9 %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abandona</a:t>
            </a:r>
            <a:endParaRPr lang="en-US" sz="2200" dirty="0"/>
          </a:p>
        </p:txBody>
      </p:sp>
      <p:sp>
        <p:nvSpPr>
          <p:cNvPr id="9" name="Tarjeta"/>
          <p:cNvSpPr/>
          <p:nvPr/>
        </p:nvSpPr>
        <p:spPr>
          <a:xfrm>
            <a:off x="4297680" y="507492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26280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Nota media (mediana)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7,0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continúa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5,7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abandona</a:t>
            </a:r>
            <a:endParaRPr lang="en-US" sz="2200" dirty="0"/>
          </a:p>
        </p:txBody>
      </p:sp>
      <p:sp>
        <p:nvSpPr>
          <p:cNvPr id="13" name="Tarjeta"/>
          <p:cNvSpPr/>
          <p:nvPr/>
        </p:nvSpPr>
        <p:spPr>
          <a:xfrm>
            <a:off x="8046720" y="507492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5320" y="5138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Suspensos (mediana)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continúa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5486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abandona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EXPLORACIÓN Y LIMPIEZA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asistencia es la señal más clara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7680960" y="173736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095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×26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788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más abandono con asistencia ≤ 75 % que con asistencia &gt; 95 %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7680960" y="402336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Círculo FaCalendarCheck"/>
          <p:cNvSpPr/>
          <p:nvPr/>
        </p:nvSpPr>
        <p:spPr>
          <a:xfrm>
            <a:off x="7909560" y="4251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0" descr="FaCalenda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726" y="443712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73252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Umbral de alerta práctico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909560" y="5074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Por debajo del 85 % de asistencia, abandona entre un 34 % y un 70 %.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INGENIERÍA DE CARACTERÍSTICAS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variables usa el modelo (y cuáles no)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6916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Círculo FaCircleCheck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177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24 predictoras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Rendimiento y asistencia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Contexto y carga: economía, trabajo, cuidados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Vínculo: satisfacción, pertenencia, intención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Etapa, entorno y estudios de progenitores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4297680" y="16916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Círculo FaBan"/>
          <p:cNvSpPr/>
          <p:nvPr/>
        </p:nvSpPr>
        <p:spPr>
          <a:xfrm>
            <a:off x="4572000" y="19202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FaB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10" y="211775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Excluidas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Identificadores y fechas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Partición sugerida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Contacto con tutoría: es una intervención ya iniciada</a:t>
            </a:r>
            <a:endParaRPr lang="en-US" sz="1500" dirty="0"/>
          </a:p>
        </p:txBody>
      </p:sp>
      <p:sp>
        <p:nvSpPr>
          <p:cNvPr id="14" name="Tarjeta"/>
          <p:cNvSpPr/>
          <p:nvPr/>
        </p:nvSpPr>
        <p:spPr>
          <a:xfrm>
            <a:off x="8046720" y="16916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5" name="Círculo FaScaleBalanced"/>
          <p:cNvSpPr/>
          <p:nvPr/>
        </p:nvSpPr>
        <p:spPr>
          <a:xfrm>
            <a:off x="8321040" y="1920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FaScaleBalan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11775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Solo auditoría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Sexo, origen, necesidad de apoyo educativo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Titularidad del centro y comunidad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 deciden quién recibe apoyo: sirven para comprobar la equidad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INGENIERÍA DE CARACTERÍSTICAS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 antes de entrenar</a:t>
            </a:r>
            <a:endParaRPr lang="en-US" sz="3400" dirty="0"/>
          </a:p>
        </p:txBody>
      </p:sp>
      <p:sp>
        <p:nvSpPr>
          <p:cNvPr id="4" name="Círculo FaLayerGroup"/>
          <p:cNvSpPr/>
          <p:nvPr/>
        </p:nvSpPr>
        <p:spPr>
          <a:xfrm>
            <a:off x="548640" y="1801368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FaLayer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998878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segundo_curso (0/1)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03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curso_nivel repite la información de etapa. Creamos un indicador de 2º curso para evitar columnas redundantes.</a:t>
            </a:r>
            <a:endParaRPr lang="en-US" sz="1400" dirty="0"/>
          </a:p>
        </p:txBody>
      </p:sp>
      <p:sp>
        <p:nvSpPr>
          <p:cNvPr id="8" name="Círculo FaSliders"/>
          <p:cNvSpPr/>
          <p:nvPr/>
        </p:nvSpPr>
        <p:spPr>
          <a:xfrm>
            <a:off x="548640" y="2916936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Image 1" descr="FaSli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114446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072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Acoso como escala 0–3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21868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«Nunca» &lt; «Una vez» &lt; «Varias al mes» &lt; «Semanal»: variable ordinal, se conserva el orden.</a:t>
            </a:r>
            <a:endParaRPr lang="en-US" sz="1400" dirty="0"/>
          </a:p>
        </p:txBody>
      </p:sp>
      <p:sp>
        <p:nvSpPr>
          <p:cNvPr id="12" name="Círculo FaTable"/>
          <p:cNvSpPr/>
          <p:nvPr/>
        </p:nvSpPr>
        <p:spPr>
          <a:xfrm>
            <a:off x="548640" y="4032504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Image 2" descr="Fa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230014"/>
            <a:ext cx="336499" cy="33649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2277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One-hot encoding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33425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Etapa, entorno y estudios de progenitores. Se elimina una categoría de referencia.</a:t>
            </a:r>
            <a:endParaRPr lang="en-US" sz="1400" dirty="0"/>
          </a:p>
        </p:txBody>
      </p:sp>
      <p:sp>
        <p:nvSpPr>
          <p:cNvPr id="16" name="Círculo FaGears"/>
          <p:cNvSpPr/>
          <p:nvPr/>
        </p:nvSpPr>
        <p:spPr>
          <a:xfrm>
            <a:off x="548640" y="514807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5345582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3834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StandardScaler + Pipeline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44982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Variables en la misma escala (coeficientes comparables). El escalado se aprende solo con entrenamiento: sin fuga de datos.</a:t>
            </a:r>
            <a:endParaRPr lang="en-US" sz="1400" dirty="0"/>
          </a:p>
        </p:txBody>
      </p:sp>
      <p:sp>
        <p:nvSpPr>
          <p:cNvPr id="20" name="Resumen matriz"/>
          <p:cNvSpPr/>
          <p:nvPr/>
        </p:nvSpPr>
        <p:spPr>
          <a:xfrm>
            <a:off x="8412480" y="1737360"/>
            <a:ext cx="3200400" cy="438912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41248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22" name="Text 16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variables predictoras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accent1"/>
                </a:solidFill>
              </a:rPr>
              <a:t>↓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8412480" y="3931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columnas de entrada al modelo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 Y EVALUACIÓN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 con clases balanceadas</a:t>
            </a:r>
            <a:endParaRPr lang="en-US" sz="3400" dirty="0"/>
          </a:p>
        </p:txBody>
      </p:sp>
      <p:sp>
        <p:nvSpPr>
          <p:cNvPr id="4" name="Círculo FaPercent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FaPerc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98059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Devuelve una probabilidad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762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Permite ordenar a los estudiantes por riesgo.</a:t>
            </a:r>
            <a:endParaRPr lang="en-US" sz="1500" dirty="0"/>
          </a:p>
        </p:txBody>
      </p:sp>
      <p:sp>
        <p:nvSpPr>
          <p:cNvPr id="8" name="Círculo FaMagnifyingGlass"/>
          <p:cNvSpPr/>
          <p:nvPr/>
        </p:nvSpPr>
        <p:spPr>
          <a:xfrm>
            <a:off x="548640" y="32004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397910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154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 interpretable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935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Cada coeficiente dice si una variable sube o baja el riesgo.</a:t>
            </a:r>
            <a:endParaRPr lang="en-US" sz="1500" dirty="0"/>
          </a:p>
        </p:txBody>
      </p:sp>
      <p:sp>
        <p:nvSpPr>
          <p:cNvPr id="12" name="Círculo FaScaleBalanced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ScaleBalan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815230"/>
            <a:ext cx="336499" cy="33649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572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class_weight = balanced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50109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 más peso a la clase minoritaria (abandono).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760720" y="164592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5760720" y="56235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El recall sube de 0,55 a 0,87: detectamos 32 puntos más de abandonos con la misma capacidad de discriminación (AUC).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 Y EVALUACIÓN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Elegimos el umbral pensando en no dejar a nadie atrás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7863840" y="1737360"/>
            <a:ext cx="3749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Criterio de negocio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Detectar al menos el 85 % de los abandonos (recall ≥ 0,85) con el umbral más alto posible, para no saturar a tutoría.</a:t>
            </a:r>
            <a:endParaRPr lang="en-US" sz="1400" dirty="0"/>
          </a:p>
        </p:txBody>
      </p:sp>
      <p:sp>
        <p:nvSpPr>
          <p:cNvPr id="8" name="Umbral elegido"/>
          <p:cNvSpPr/>
          <p:nvPr/>
        </p:nvSpPr>
        <p:spPr>
          <a:xfrm>
            <a:off x="7863840" y="402336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2440" y="4160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umbral elegido · recall 0,87 y precision 0,53 en validación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 Y EVALUACIÓN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con estudiantes que el modelo nunca vio</a:t>
            </a:r>
            <a:endParaRPr lang="en-US" sz="3400" dirty="0"/>
          </a:p>
        </p:txBody>
      </p:sp>
      <p:sp>
        <p:nvSpPr>
          <p:cNvPr id="4" name="KPI Recall"/>
          <p:cNvSpPr/>
          <p:nvPr/>
        </p:nvSpPr>
        <p:spPr>
          <a:xfrm>
            <a:off x="548640" y="1783080"/>
            <a:ext cx="2066544" cy="3017520"/>
          </a:xfrm>
          <a:prstGeom prst="roundRect">
            <a:avLst>
              <a:gd name="adj" fmla="val 531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Recall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detecta 8 de cada 10 abandonos</a:t>
            </a:r>
            <a:endParaRPr lang="en-US" sz="1400" dirty="0"/>
          </a:p>
        </p:txBody>
      </p:sp>
      <p:sp>
        <p:nvSpPr>
          <p:cNvPr id="8" name="KPI Precision"/>
          <p:cNvSpPr/>
          <p:nvPr/>
        </p:nvSpPr>
        <p:spPr>
          <a:xfrm>
            <a:off x="2798064" y="1783080"/>
            <a:ext cx="2066544" cy="30175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98064" y="2011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063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Precision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356616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de cada 2 alertas es un abandono real</a:t>
            </a:r>
            <a:endParaRPr lang="en-US" sz="1400" dirty="0"/>
          </a:p>
        </p:txBody>
      </p:sp>
      <p:sp>
        <p:nvSpPr>
          <p:cNvPr id="12" name="KPI Accuracy"/>
          <p:cNvSpPr/>
          <p:nvPr/>
        </p:nvSpPr>
        <p:spPr>
          <a:xfrm>
            <a:off x="5047488" y="1783080"/>
            <a:ext cx="2066544" cy="30175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47488" y="2011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3063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Accuracy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356616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aciertos totales (referencia)</a:t>
            </a:r>
            <a:endParaRPr lang="en-US" sz="1400" dirty="0"/>
          </a:p>
        </p:txBody>
      </p:sp>
      <p:sp>
        <p:nvSpPr>
          <p:cNvPr id="16" name="KPI F1-score"/>
          <p:cNvSpPr/>
          <p:nvPr/>
        </p:nvSpPr>
        <p:spPr>
          <a:xfrm>
            <a:off x="7296912" y="1783080"/>
            <a:ext cx="2066544" cy="30175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6912" y="2011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0,64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296912" y="3063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F1-score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356616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equilibrio recall–precision</a:t>
            </a:r>
            <a:endParaRPr lang="en-US" sz="1400" dirty="0"/>
          </a:p>
        </p:txBody>
      </p:sp>
      <p:sp>
        <p:nvSpPr>
          <p:cNvPr id="20" name="KPI AUC-ROC"/>
          <p:cNvSpPr/>
          <p:nvPr/>
        </p:nvSpPr>
        <p:spPr>
          <a:xfrm>
            <a:off x="9546336" y="1783080"/>
            <a:ext cx="2066544" cy="30175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46336" y="2011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546336" y="3063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AUC-ROC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356616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muy buena capacidad de ordenar por riesgo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5" name="Círculo FaCircleCheck"/>
          <p:cNvSpPr/>
          <p:nvPr/>
        </p:nvSpPr>
        <p:spPr>
          <a:xfrm>
            <a:off x="777240" y="523036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0" descr="Fa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5427878"/>
            <a:ext cx="336499" cy="336499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737360" y="51206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 sobreajuste: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AUC 0,91 en entrenamiento · 0,92 en validación · 0,91 en prueba. El modelo generaliza a estudiantes nuevos.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 Y EVALUACIÓN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confusión: qué acierta y en qué falla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Predicción del modelo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Continúa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Continúa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Abandona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Abandona</a:t>
            </a:r>
            <a:endParaRPr lang="en-US" sz="1400" dirty="0"/>
          </a:p>
        </p:txBody>
      </p:sp>
      <p:sp>
        <p:nvSpPr>
          <p:cNvPr id="10" name="Celda Verdaderos negativos"/>
          <p:cNvSpPr/>
          <p:nvPr/>
        </p:nvSpPr>
        <p:spPr>
          <a:xfrm>
            <a:off x="1865376" y="2093976"/>
            <a:ext cx="2029968" cy="1527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288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Verdaderos negativos</a:t>
            </a:r>
            <a:endParaRPr lang="en-US" sz="1300" dirty="0"/>
          </a:p>
        </p:txBody>
      </p:sp>
      <p:sp>
        <p:nvSpPr>
          <p:cNvPr id="13" name="Celda Falsas alarmas"/>
          <p:cNvSpPr/>
          <p:nvPr/>
        </p:nvSpPr>
        <p:spPr>
          <a:xfrm>
            <a:off x="3968496" y="2093976"/>
            <a:ext cx="2029968" cy="152704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Falsas alarmas</a:t>
            </a:r>
            <a:endParaRPr lang="en-US" sz="1300" dirty="0"/>
          </a:p>
        </p:txBody>
      </p:sp>
      <p:sp>
        <p:nvSpPr>
          <p:cNvPr id="16" name="Celda Abandonos no detectados"/>
          <p:cNvSpPr/>
          <p:nvPr/>
        </p:nvSpPr>
        <p:spPr>
          <a:xfrm>
            <a:off x="1865376" y="3694176"/>
            <a:ext cx="2029968" cy="152704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663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Abandonos no detectados</a:t>
            </a:r>
            <a:endParaRPr lang="en-US" sz="1300" dirty="0"/>
          </a:p>
        </p:txBody>
      </p:sp>
      <p:sp>
        <p:nvSpPr>
          <p:cNvPr id="19" name="Celda Abandonos detectados"/>
          <p:cNvSpPr/>
          <p:nvPr/>
        </p:nvSpPr>
        <p:spPr>
          <a:xfrm>
            <a:off x="3968496" y="3694176"/>
            <a:ext cx="2029968" cy="152704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3192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63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Abandonos detectados</a:t>
            </a:r>
            <a:endParaRPr lang="en-US" sz="1300" dirty="0"/>
          </a:p>
        </p:txBody>
      </p:sp>
      <p:sp>
        <p:nvSpPr>
          <p:cNvPr id="22" name="Tarjeta"/>
          <p:cNvSpPr/>
          <p:nvPr/>
        </p:nvSpPr>
        <p:spPr>
          <a:xfrm>
            <a:off x="6675120" y="1691640"/>
            <a:ext cx="4937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18288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Recall = 55 / (55 + 14) = 80 %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los que abandonan, ¿a cuántos encontramos?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Precision = 55 / (55 + 47) = 54 %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las alertas, ¿cuántas son abandonos reales?</a:t>
            </a:r>
            <a:endParaRPr lang="en-US" sz="1800" dirty="0"/>
          </a:p>
        </p:txBody>
      </p:sp>
      <p:sp>
        <p:nvSpPr>
          <p:cNvPr id="24" name="Tarjeta"/>
          <p:cNvSpPr/>
          <p:nvPr/>
        </p:nvSpPr>
        <p:spPr>
          <a:xfrm>
            <a:off x="6675120" y="4069080"/>
            <a:ext cx="4937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5" name="Círculo FaPersonChalkboard"/>
          <p:cNvSpPr/>
          <p:nvPr/>
        </p:nvSpPr>
        <p:spPr>
          <a:xfrm>
            <a:off x="6903720" y="42976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0" descr="FaPersonChalk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1230" y="4495190"/>
            <a:ext cx="336499" cy="336499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818120" y="4297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Carga para tutoría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5120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102 de 360 estudiantes marcados (28 %). Una falsa alarma cuesta una tutoría; un abandono no detectado cuesta una trayectoria.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INTERPRETACIÓN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factores pesan más en el riesgo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1323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8745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↑ Aumentan el riesgo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Repetir curso, sufrir acoso, dificultad económica y suspensos.</a:t>
            </a:r>
            <a:endParaRPr lang="en-US" sz="1700" dirty="0"/>
          </a:p>
        </p:txBody>
      </p:sp>
      <p:sp>
        <p:nvSpPr>
          <p:cNvPr id="7" name="Tarjeta"/>
          <p:cNvSpPr/>
          <p:nvPr/>
        </p:nvSpPr>
        <p:spPr>
          <a:xfrm>
            <a:off x="8046720" y="40690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7532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↓ Protegen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Asistencia (el factor nº 1), satisfacción, intención de continuar y buena relación con docentes.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INTERPRETACIÓN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justo el modelo? Auditoría por grupos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allazgo equidad"/>
          <p:cNvSpPr/>
          <p:nvPr/>
        </p:nvSpPr>
        <p:spPr>
          <a:xfrm>
            <a:off x="7863840" y="1737360"/>
            <a:ext cx="3749040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Hallazgo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Se detectan menos abandonos en chicos (0,72) que en chicas (0,86).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8404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El modelo no usa variables sensibles, pero hay que vigilarlo: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investigar si los chicos muestran señales de riesgo distintas y, si procede, añadir revisión adicional.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RECOMENDACIONES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acciones para reducir el abandono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Círculo FaCalendarCheck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1054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Alerta de asistencia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Revisión mensual si baja del 85 % o hay retrasos frecuentes. Contacto con la familia.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4297680" y="1691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Círculo FaBookOpen"/>
          <p:cNvSpPr/>
          <p:nvPr/>
        </p:nvSpPr>
        <p:spPr>
          <a:xfrm>
            <a:off x="4526280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Book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46" y="210540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Refuerzo académico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 de recuperación quincenal con 2 o más suspensos o repetición de curso.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Círculo FaCompass"/>
          <p:cNvSpPr/>
          <p:nvPr/>
        </p:nvSpPr>
        <p:spPr>
          <a:xfrm>
            <a:off x="8275320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486" y="210540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Orientación vocacional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Revisar el encaje del itinerario si la satisfacción o la intención son bajas.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Círculo FaHandHoldingDollar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HandHoldingDol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" y="439140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Apoyo socioeconómico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Becas, flexibilidad horaria y conciliación para quien trabaja o cuida.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5" name="Círculo FaShieldHeart"/>
          <p:cNvSpPr/>
          <p:nvPr/>
        </p:nvSpPr>
        <p:spPr>
          <a:xfrm>
            <a:off x="4526280" y="4206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ShieldHe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46" y="4391406"/>
            <a:ext cx="315468" cy="3154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Convivencia y bienestar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Protocolo antiacoso, apoyo psicoeducativo y mentoría entre iguales.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Círculo FaUserCheck"/>
          <p:cNvSpPr/>
          <p:nvPr/>
        </p:nvSpPr>
        <p:spPr>
          <a:xfrm>
            <a:off x="8275320" y="42062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Fa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486" y="4391406"/>
            <a:ext cx="315468" cy="3154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Uso del modelo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Ejecutarlo cada trimestre y medir si las intervenciones reducen el abandono.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modelo a la herramienta: app en Streamlit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737360"/>
            <a:ext cx="2066544" cy="29260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5" name="Círculo FaFlag"/>
          <p:cNvSpPr/>
          <p:nvPr/>
        </p:nvSpPr>
        <p:spPr>
          <a:xfrm>
            <a:off x="1170432" y="196596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FaFl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18815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El reto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Problema y objetivo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2798064" y="1737360"/>
            <a:ext cx="2066544" cy="29260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0" name="Círculo FaChartColumn"/>
          <p:cNvSpPr/>
          <p:nvPr/>
        </p:nvSpPr>
        <p:spPr>
          <a:xfrm>
            <a:off x="3419856" y="196596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FaChart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55" y="218815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9504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Los datos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35224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señales del abandono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5047488" y="1737360"/>
            <a:ext cx="2066544" cy="29260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5" name="Círculo FaGears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FaGe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479" y="218815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· El modelo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184648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Cómo funciona y qué pesa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7296912" y="1737360"/>
            <a:ext cx="2066544" cy="29260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0" name="Círculo FaBullseye"/>
          <p:cNvSpPr/>
          <p:nvPr/>
        </p:nvSpPr>
        <p:spPr>
          <a:xfrm>
            <a:off x="7918704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03" y="218815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· ¿Acierta?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Métricas y umbral interactivo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9546336" y="1737360"/>
            <a:ext cx="2066544" cy="29260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5" name="Círculo FaLightbulb"/>
          <p:cNvSpPr/>
          <p:nvPr/>
        </p:nvSpPr>
        <p:spPr>
          <a:xfrm>
            <a:off x="10168128" y="196596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4" descr="Fa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0327" y="2188159"/>
            <a:ext cx="378562" cy="37856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37776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 · Acciones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683496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Recomendaciones y uso responsable</a:t>
            </a:r>
            <a:endParaRPr lang="en-US" sz="1400" dirty="0"/>
          </a:p>
        </p:txBody>
      </p:sp>
      <p:sp>
        <p:nvSpPr>
          <p:cNvPr id="29" name="Comando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30" name="Círculo FaLaptopCode"/>
          <p:cNvSpPr/>
          <p:nvPr/>
        </p:nvSpPr>
        <p:spPr>
          <a:xfrm>
            <a:off x="777240" y="51846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FaLaptopCo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" y="5382158"/>
            <a:ext cx="336499" cy="33649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737360" y="50292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Cuenta el proyecto en 5 pasos y permite experimentar con el umbral del modelo.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La predicción activa una revisión humana y una oferta de apoyo. Nunca una sanción.</a:t>
            </a:r>
            <a:endParaRPr lang="en-US" sz="2200" dirty="0"/>
          </a:p>
        </p:txBody>
      </p:sp>
      <p:sp>
        <p:nvSpPr>
          <p:cNvPr id="4" name="Conclusión 1"/>
          <p:cNvSpPr/>
          <p:nvPr/>
        </p:nvSpPr>
        <p:spPr>
          <a:xfrm>
            <a:off x="54864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5" name="Círculo FaChartLine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2338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Detecta 8 de cada 10 abandonos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Recall 0,80 y AUC 0,91 con estudiantes que el modelo no había visto.</a:t>
            </a:r>
            <a:endParaRPr lang="en-US" sz="1500" dirty="0"/>
          </a:p>
        </p:txBody>
      </p:sp>
      <p:sp>
        <p:nvSpPr>
          <p:cNvPr id="9" name="Conclusión 2"/>
          <p:cNvSpPr/>
          <p:nvPr/>
        </p:nvSpPr>
        <p:spPr>
          <a:xfrm>
            <a:off x="429768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10" name="Círculo FaCalendarCheck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Calenda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23387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 asistencia es la señal clave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 el factor con más peso, se mide cada día y permite actuar pronto.</a:t>
            </a:r>
            <a:endParaRPr lang="en-US" sz="1500" dirty="0"/>
          </a:p>
        </p:txBody>
      </p:sp>
      <p:sp>
        <p:nvSpPr>
          <p:cNvPr id="14" name="Conclusión 3"/>
          <p:cNvSpPr/>
          <p:nvPr/>
        </p:nvSpPr>
        <p:spPr>
          <a:xfrm>
            <a:off x="804672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15" name="Círculo FaScaleBalanced"/>
          <p:cNvSpPr/>
          <p:nvPr/>
        </p:nvSpPr>
        <p:spPr>
          <a:xfrm>
            <a:off x="8321040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ScaleBalan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239" y="223387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Equidad bajo vigilancia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Sin variables sensibles, pero con menor recall en chicos: hay que investigarlo.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Future">
  <a:themeElements>
    <a:clrScheme name="EduFuture">
      <a:dk1>
        <a:srgbClr val="1B2A41"/>
      </a:dk1>
      <a:lt1>
        <a:srgbClr val="FFFFFF"/>
      </a:lt1>
      <a:dk2>
        <a:srgbClr val="3D4F66"/>
      </a:dk2>
      <a:lt2>
        <a:srgbClr val="F1F4F8"/>
      </a:lt2>
      <a:accent1>
        <a:srgbClr val="DD8452"/>
      </a:accent1>
      <a:accent2>
        <a:srgbClr val="4C72B0"/>
      </a:accent2>
      <a:accent3>
        <a:srgbClr val="2A9D8F"/>
      </a:accent3>
      <a:accent4>
        <a:srgbClr val="E9C46A"/>
      </a:accent4>
      <a:accent5>
        <a:srgbClr val="8D99AE"/>
      </a:accent5>
      <a:accent6>
        <a:srgbClr val="C0392B"/>
      </a:accent6>
      <a:hlink>
        <a:srgbClr val="4C72B0"/>
      </a:hlink>
      <a:folHlink>
        <a:srgbClr val="6D597A"/>
      </a:folHlink>
    </a:clrScheme>
    <a:fontScheme name="EduFu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EduFuture · Predicción del abandono escolar</dc:title>
  <dc:subject>PptxGenJS Presentation</dc:subject>
  <dc:creator>PptxGenJS</dc:creator>
  <cp:lastModifiedBy>PptxGenJS</cp:lastModifiedBy>
  <cp:revision>1</cp:revision>
  <dcterms:created xsi:type="dcterms:W3CDTF">2026-10-28T09:37:30Z</dcterms:created>
  <dcterms:modified xsi:type="dcterms:W3CDTF">2026-10-28T09:37:30Z</dcterms:modified>
</cp:coreProperties>
</file>